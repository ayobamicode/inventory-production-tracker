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3B5C"/>
          </a:solidFill>
          <a:ln w="12700">
            <a:solidFill>
              <a:srgbClr val="133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465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Production Tracker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555480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Boss Presentation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image" Target="../media/image-3-25.png"/><Relationship Id="rId26" Type="http://schemas.openxmlformats.org/officeDocument/2006/relationships/image" Target="../media/image-3-26.svg"/><Relationship Id="rId27" Type="http://schemas.openxmlformats.org/officeDocument/2006/relationships/slideLayout" Target="../slideLayouts/slideLayout2.xml"/><Relationship Id="rId2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1695" cy="6400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566928"/>
            <a:ext cx="3794760" cy="5166360"/>
          </a:xfrm>
          <a:prstGeom prst="roundRect">
            <a:avLst>
              <a:gd name="adj" fmla="val 2892"/>
            </a:avLst>
          </a:prstGeom>
          <a:solidFill>
            <a:srgbClr val="123B5B"/>
          </a:solidFill>
          <a:ln w="12700">
            <a:solidFill>
              <a:srgbClr val="123B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950976"/>
            <a:ext cx="3127248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0" y="1216152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97696" y="10789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Low stock alert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97696" y="1389888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8FF"/>
                </a:solidFill>
              </a:rPr>
              <a:t>Inventory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8FF"/>
                </a:solidFill>
              </a:rPr>
              <a:t>Manager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8FF"/>
                </a:solidFill>
              </a:rPr>
              <a:t>Purchasing Team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321040" y="2487168"/>
            <a:ext cx="2788920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58784" y="26974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Dashboard preview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577072" y="2999232"/>
            <a:ext cx="2267712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05088" y="310896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</a:rPr>
              <a:t>Item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674352" y="310896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</a:rPr>
              <a:t>Qty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104120" y="3108960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</a:rPr>
              <a:t>Recipient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577072" y="3438144"/>
            <a:ext cx="2267712" cy="310896"/>
          </a:xfrm>
          <a:prstGeom prst="roundRect">
            <a:avLst>
              <a:gd name="adj" fmla="val 11765"/>
            </a:avLst>
          </a:prstGeom>
          <a:solidFill>
            <a:srgbClr val="FEF2F2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05088" y="352044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8212F"/>
                </a:solidFill>
              </a:rPr>
              <a:t>Glue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9710928" y="352044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4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058400" y="352044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F"/>
                </a:solidFill>
              </a:rPr>
              <a:t>Manager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8577072" y="3877056"/>
            <a:ext cx="226771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05088" y="3959352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8212F"/>
                </a:solidFill>
              </a:rPr>
              <a:t>Caps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710928" y="395935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7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058400" y="395935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F"/>
                </a:solidFill>
              </a:rPr>
              <a:t>Purchasing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8577072" y="4315968"/>
            <a:ext cx="226771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05088" y="4398264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8212F"/>
                </a:solidFill>
              </a:rPr>
              <a:t>Paper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9710928" y="439826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6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0058400" y="439826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F"/>
                </a:solidFill>
              </a:rPr>
              <a:t>Inventory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640080" y="105156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Inventory Production Tracker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640080" y="15910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Low Inventory Notification Upgrade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40080" y="2057400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A simple operational improvement that helps the team catch shortages earlier, reduce production interruptions, and route alerts to the right people immediately.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40080" y="2971800"/>
            <a:ext cx="1298448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" y="3035808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Faster response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103120" y="297180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76272" y="303580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Better visibility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822192" y="2971800"/>
            <a:ext cx="1536192" cy="384048"/>
          </a:xfrm>
          <a:prstGeom prst="roundRect">
            <a:avLst>
              <a:gd name="adj" fmla="val 19048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895344" y="303580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Lower stockout risk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40080" y="3749040"/>
            <a:ext cx="63093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4050792"/>
            <a:ext cx="420624" cy="420624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389888" y="38953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</a:rPr>
              <a:t>What changed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1389888" y="418795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The system now creates low-stock alerts automatically when inventory is created, updated, or reduced by a production order. Notifications are shown on the frontend and routed to Inventory, Manager, and Purchasing roles.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feature solves a very practical operations problem: low inventory is often noticed too late.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325880"/>
            <a:ext cx="3931920" cy="452628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910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12F"/>
                </a:solidFill>
              </a:rPr>
              <a:t>Current pain points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59536" y="2057400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093976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07008" y="2011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</a:rPr>
              <a:t>Late visibility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22677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</a:rPr>
              <a:t>Teams may discover shortages only after work is ready to start.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9536" y="3081528"/>
            <a:ext cx="219456" cy="21945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3118104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07008" y="30358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</a:rPr>
              <a:t>Manual follow-up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3291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</a:rPr>
              <a:t>People must remember to tell managers or purchasing by hand.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9536" y="4105656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4142232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07008" y="40599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</a:rPr>
              <a:t>Production risk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43159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</a:rPr>
              <a:t>Missing materials can delay orders and create avoidable rush purchases.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1248" y="523036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285232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Bottom line: shortages become a visibility problem before they become a cost problem.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5727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12F"/>
                </a:solidFill>
              </a:rPr>
              <a:t>Typical chain reaction without alerts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983480" y="2176272"/>
            <a:ext cx="1261872" cy="2697480"/>
          </a:xfrm>
          <a:prstGeom prst="roundRect">
            <a:avLst>
              <a:gd name="adj" fmla="val 5797"/>
            </a:avLst>
          </a:prstGeom>
          <a:solidFill>
            <a:srgbClr val="DBEAFE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76672" y="2450592"/>
            <a:ext cx="475488" cy="4754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93208" y="307238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Stock drops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93208" y="3529584"/>
            <a:ext cx="1042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Inventory falls below safe level</a:t>
            </a:r>
            <a:endParaRPr lang="en-US" sz="93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1928" y="3264408"/>
            <a:ext cx="274320" cy="13716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565392" y="2176272"/>
            <a:ext cx="1261872" cy="2697480"/>
          </a:xfrm>
          <a:prstGeom prst="roundRect">
            <a:avLst>
              <a:gd name="adj" fmla="val 5797"/>
            </a:avLst>
          </a:prstGeom>
          <a:solidFill>
            <a:srgbClr val="FFEDD5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58584" y="2450592"/>
            <a:ext cx="475488" cy="4754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675120" y="307238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No one escalates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6675120" y="3529584"/>
            <a:ext cx="1042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Manager and purchasing are not informed quickly</a:t>
            </a:r>
            <a:endParaRPr lang="en-US" sz="93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63840" y="3264408"/>
            <a:ext cx="274320" cy="13716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156448" y="2176272"/>
            <a:ext cx="1261872" cy="2697480"/>
          </a:xfrm>
          <a:prstGeom prst="roundRect">
            <a:avLst>
              <a:gd name="adj" fmla="val 5797"/>
            </a:avLst>
          </a:prstGeom>
          <a:solidFill>
            <a:srgbClr val="FEE2E2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49640" y="2450592"/>
            <a:ext cx="475488" cy="4754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266176" y="307238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Work slows down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8266176" y="3529584"/>
            <a:ext cx="1042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Production order risks delay or rework</a:t>
            </a:r>
            <a:endParaRPr lang="en-US" sz="93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54896" y="3264408"/>
            <a:ext cx="274320" cy="13716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9747504" y="2176272"/>
            <a:ext cx="1261872" cy="2697480"/>
          </a:xfrm>
          <a:prstGeom prst="roundRect">
            <a:avLst>
              <a:gd name="adj" fmla="val 5797"/>
            </a:avLst>
          </a:prstGeom>
          <a:solidFill>
            <a:srgbClr val="D1FAE5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40696" y="2450592"/>
            <a:ext cx="475488" cy="47548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857232" y="307238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Urgent reaction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9857232" y="3529584"/>
            <a:ext cx="1042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Team scrambles to buy or reschedule</a:t>
            </a:r>
            <a:endParaRPr lang="en-US" sz="930" dirty="0"/>
          </a:p>
        </p:txBody>
      </p:sp>
      <p:sp>
        <p:nvSpPr>
          <p:cNvPr id="40" name="Shape 31"/>
          <p:cNvSpPr/>
          <p:nvPr/>
        </p:nvSpPr>
        <p:spPr>
          <a:xfrm>
            <a:off x="5029200" y="5230368"/>
            <a:ext cx="5486400" cy="310896"/>
          </a:xfrm>
          <a:prstGeom prst="roundRect">
            <a:avLst>
              <a:gd name="adj" fmla="val 50000"/>
            </a:avLst>
          </a:prstGeom>
          <a:solidFill>
            <a:srgbClr val="E7F7F3"/>
          </a:solidFill>
          <a:ln w="12700">
            <a:solidFill>
              <a:srgbClr val="E7F7F3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5029200" y="5285232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New capability breaks this chain by sending immediate low-stock messages to the right roles.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built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enhancement adds a notification layer on top of the existing inventory, order, and bill-of-material workflows.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42032" y="2788920"/>
            <a:ext cx="320040" cy="14630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3712" y="2788920"/>
            <a:ext cx="320040" cy="146304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9168" y="2761488"/>
            <a:ext cx="384048" cy="146304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73184" y="2304288"/>
            <a:ext cx="320040" cy="128016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73184" y="3127248"/>
            <a:ext cx="320040" cy="128016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73184" y="3931920"/>
            <a:ext cx="320040" cy="128016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914400" y="2331720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EEF6FF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4128" y="2496312"/>
            <a:ext cx="310896" cy="310896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389888" y="247802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8212F"/>
                </a:solidFill>
              </a:rPr>
              <a:t>Inventory</a:t>
            </a:r>
            <a:endParaRPr lang="en-US" sz="1160" dirty="0"/>
          </a:p>
        </p:txBody>
      </p:sp>
      <p:sp>
        <p:nvSpPr>
          <p:cNvPr id="14" name="Text 5"/>
          <p:cNvSpPr/>
          <p:nvPr/>
        </p:nvSpPr>
        <p:spPr>
          <a:xfrm>
            <a:off x="1024128" y="286207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Create / update item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Track quantity + location</a:t>
            </a:r>
            <a:endParaRPr lang="en-US" sz="980" dirty="0"/>
          </a:p>
        </p:txBody>
      </p:sp>
      <p:sp>
        <p:nvSpPr>
          <p:cNvPr id="15" name="Shape 6"/>
          <p:cNvSpPr/>
          <p:nvPr/>
        </p:nvSpPr>
        <p:spPr>
          <a:xfrm>
            <a:off x="2926080" y="2331720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5808" y="2496312"/>
            <a:ext cx="310896" cy="310896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3401568" y="247802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8212F"/>
                </a:solidFill>
              </a:rPr>
              <a:t>BOM</a:t>
            </a:r>
            <a:endParaRPr lang="en-US" sz="1160" dirty="0"/>
          </a:p>
        </p:txBody>
      </p:sp>
      <p:sp>
        <p:nvSpPr>
          <p:cNvPr id="18" name="Text 8"/>
          <p:cNvSpPr/>
          <p:nvPr/>
        </p:nvSpPr>
        <p:spPr>
          <a:xfrm>
            <a:off x="3035808" y="286207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Materials required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for each product</a:t>
            </a:r>
            <a:endParaRPr lang="en-US" sz="980" dirty="0"/>
          </a:p>
        </p:txBody>
      </p:sp>
      <p:sp>
        <p:nvSpPr>
          <p:cNvPr id="19" name="Shape 9"/>
          <p:cNvSpPr/>
          <p:nvPr/>
        </p:nvSpPr>
        <p:spPr>
          <a:xfrm>
            <a:off x="4937760" y="233172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7ED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47488" y="2496312"/>
            <a:ext cx="310896" cy="310896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413248" y="247802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8212F"/>
                </a:solidFill>
              </a:rPr>
              <a:t>Production Orders</a:t>
            </a:r>
            <a:endParaRPr lang="en-US" sz="1160" dirty="0"/>
          </a:p>
        </p:txBody>
      </p:sp>
      <p:sp>
        <p:nvSpPr>
          <p:cNvPr id="22" name="Text 11"/>
          <p:cNvSpPr/>
          <p:nvPr/>
        </p:nvSpPr>
        <p:spPr>
          <a:xfrm>
            <a:off x="5047488" y="286207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Completion consumes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inventory automatically</a:t>
            </a:r>
            <a:endParaRPr lang="en-US" sz="980" dirty="0"/>
          </a:p>
        </p:txBody>
      </p:sp>
      <p:sp>
        <p:nvSpPr>
          <p:cNvPr id="23" name="Shape 12"/>
          <p:cNvSpPr/>
          <p:nvPr/>
        </p:nvSpPr>
        <p:spPr>
          <a:xfrm>
            <a:off x="7543800" y="1920240"/>
            <a:ext cx="1920240" cy="1901952"/>
          </a:xfrm>
          <a:prstGeom prst="roundRect">
            <a:avLst>
              <a:gd name="adj" fmla="val 3846"/>
            </a:avLst>
          </a:prstGeom>
          <a:solidFill>
            <a:srgbClr val="ECFDF5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53528" y="2084832"/>
            <a:ext cx="310896" cy="310896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8019288" y="206654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8212F"/>
                </a:solidFill>
              </a:rPr>
              <a:t>Notification Service</a:t>
            </a:r>
            <a:endParaRPr lang="en-US" sz="1160" dirty="0"/>
          </a:p>
        </p:txBody>
      </p:sp>
      <p:sp>
        <p:nvSpPr>
          <p:cNvPr id="26" name="Text 14"/>
          <p:cNvSpPr/>
          <p:nvPr/>
        </p:nvSpPr>
        <p:spPr>
          <a:xfrm>
            <a:off x="7653528" y="2450592"/>
            <a:ext cx="17007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Checks threshold (&lt;10)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Creates low-stock messages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Avoids duplicate alerts</a:t>
            </a:r>
            <a:endParaRPr lang="en-US" sz="980" dirty="0"/>
          </a:p>
        </p:txBody>
      </p:sp>
      <p:sp>
        <p:nvSpPr>
          <p:cNvPr id="27" name="Shape 15"/>
          <p:cNvSpPr/>
          <p:nvPr/>
        </p:nvSpPr>
        <p:spPr>
          <a:xfrm>
            <a:off x="9875520" y="201168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985248" y="2176272"/>
            <a:ext cx="310896" cy="310896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10351008" y="2157984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8212F"/>
                </a:solidFill>
              </a:rPr>
              <a:t>Inventory Team</a:t>
            </a:r>
            <a:endParaRPr lang="en-US" sz="1160" dirty="0"/>
          </a:p>
        </p:txBody>
      </p:sp>
      <p:sp>
        <p:nvSpPr>
          <p:cNvPr id="30" name="Shape 17"/>
          <p:cNvSpPr/>
          <p:nvPr/>
        </p:nvSpPr>
        <p:spPr>
          <a:xfrm>
            <a:off x="9875520" y="2816352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985248" y="2980944"/>
            <a:ext cx="310896" cy="310896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10351008" y="2962656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8212F"/>
                </a:solidFill>
              </a:rPr>
              <a:t>Manager</a:t>
            </a:r>
            <a:endParaRPr lang="en-US" sz="1160" dirty="0"/>
          </a:p>
        </p:txBody>
      </p:sp>
      <p:sp>
        <p:nvSpPr>
          <p:cNvPr id="33" name="Shape 19"/>
          <p:cNvSpPr/>
          <p:nvPr/>
        </p:nvSpPr>
        <p:spPr>
          <a:xfrm>
            <a:off x="9875520" y="3621024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985248" y="3785616"/>
            <a:ext cx="310896" cy="310896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10351008" y="3767328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8212F"/>
                </a:solidFill>
              </a:rPr>
              <a:t>Purchasing</a:t>
            </a:r>
            <a:endParaRPr lang="en-US" sz="1160" dirty="0"/>
          </a:p>
        </p:txBody>
      </p:sp>
      <p:sp>
        <p:nvSpPr>
          <p:cNvPr id="36" name="Text 21"/>
          <p:cNvSpPr/>
          <p:nvPr/>
        </p:nvSpPr>
        <p:spPr>
          <a:xfrm>
            <a:off x="896112" y="43434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</a:rPr>
              <a:t>Frontend additions</a:t>
            </a:r>
            <a:endParaRPr lang="en-US" sz="1300" dirty="0"/>
          </a:p>
        </p:txBody>
      </p:sp>
      <p:sp>
        <p:nvSpPr>
          <p:cNvPr id="37" name="Text 22"/>
          <p:cNvSpPr/>
          <p:nvPr/>
        </p:nvSpPr>
        <p:spPr>
          <a:xfrm>
            <a:off x="914400" y="459028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</a:rPr>
              <a:t>• New “Low Inventory Notifications” section on dashboard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</a:rPr>
              <a:t>• Clear notifications action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</a:rPr>
              <a:t>• Auto-refresh after inventory or order changes</a:t>
            </a:r>
            <a:endParaRPr lang="en-US" sz="1150" dirty="0"/>
          </a:p>
        </p:txBody>
      </p:sp>
      <p:sp>
        <p:nvSpPr>
          <p:cNvPr id="38" name="Text 23"/>
          <p:cNvSpPr/>
          <p:nvPr/>
        </p:nvSpPr>
        <p:spPr>
          <a:xfrm>
            <a:off x="4206240" y="43434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</a:rPr>
              <a:t>Backend additions</a:t>
            </a:r>
            <a:endParaRPr lang="en-US" sz="1300" dirty="0"/>
          </a:p>
        </p:txBody>
      </p:sp>
      <p:sp>
        <p:nvSpPr>
          <p:cNvPr id="39" name="Text 24"/>
          <p:cNvSpPr/>
          <p:nvPr/>
        </p:nvSpPr>
        <p:spPr>
          <a:xfrm>
            <a:off x="4224528" y="459028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</a:rPr>
              <a:t>• Notification controller + service + repository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</a:rPr>
              <a:t>• Triggered on save, update, and order inventory consumption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</a:rPr>
              <a:t>• Stored messages for audit and display</a:t>
            </a:r>
            <a:endParaRPr lang="en-US" sz="1150" dirty="0"/>
          </a:p>
        </p:txBody>
      </p:sp>
      <p:sp>
        <p:nvSpPr>
          <p:cNvPr id="40" name="Shape 25"/>
          <p:cNvSpPr/>
          <p:nvPr/>
        </p:nvSpPr>
        <p:spPr>
          <a:xfrm>
            <a:off x="8229600" y="4773168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41" name="Text 26"/>
          <p:cNvSpPr/>
          <p:nvPr/>
        </p:nvSpPr>
        <p:spPr>
          <a:xfrm>
            <a:off x="8229600" y="482803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Outcome: one source of truth for low-stock awareness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workflow now operates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logic is simple enough for users and strong enough for operations.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40864" y="3136392"/>
            <a:ext cx="384048" cy="1463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1828800"/>
            <a:ext cx="1591056" cy="2926080"/>
          </a:xfrm>
          <a:prstGeom prst="roundRect">
            <a:avLst>
              <a:gd name="adj" fmla="val 4598"/>
            </a:avLst>
          </a:prstGeom>
          <a:solidFill>
            <a:srgbClr val="EEF6FF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296" y="2084832"/>
            <a:ext cx="566928" cy="5669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4447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2296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</a:rPr>
              <a:t>Inventory changes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22960" y="3310128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Item is added, edited, or reduced by a completed production order.</a:t>
            </a:r>
            <a:endParaRPr lang="en-US" sz="96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7992" y="3136392"/>
            <a:ext cx="384048" cy="14630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880360" y="1828800"/>
            <a:ext cx="1591056" cy="2926080"/>
          </a:xfrm>
          <a:prstGeom prst="roundRect">
            <a:avLst>
              <a:gd name="adj" fmla="val 4598"/>
            </a:avLst>
          </a:prstGeom>
          <a:solidFill>
            <a:srgbClr val="F8FA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92424" y="2084832"/>
            <a:ext cx="566928" cy="5669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447288" y="14447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2990088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</a:rPr>
              <a:t>Threshold check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2990088" y="3310128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System checks whether quantity is below the configured low-stock threshold.</a:t>
            </a:r>
            <a:endParaRPr lang="en-US" sz="96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5120" y="3136392"/>
            <a:ext cx="384048" cy="14630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047488" y="1828800"/>
            <a:ext cx="1591056" cy="2926080"/>
          </a:xfrm>
          <a:prstGeom prst="roundRect">
            <a:avLst>
              <a:gd name="adj" fmla="val 4598"/>
            </a:avLst>
          </a:prstGeom>
          <a:solidFill>
            <a:srgbClr val="ECFDF5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59552" y="2084832"/>
            <a:ext cx="566928" cy="56692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14416" y="14447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5157216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</a:rPr>
              <a:t>Notifications created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5157216" y="3310128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Messages are created for Inventory Team, Manager, and Purchasing Team.</a:t>
            </a:r>
            <a:endParaRPr lang="en-US" sz="96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42248" y="3136392"/>
            <a:ext cx="384048" cy="146304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7214616" y="1828800"/>
            <a:ext cx="1591056" cy="2926080"/>
          </a:xfrm>
          <a:prstGeom prst="roundRect">
            <a:avLst>
              <a:gd name="adj" fmla="val 4598"/>
            </a:avLst>
          </a:prstGeom>
          <a:solidFill>
            <a:srgbClr val="FFF7ED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726680" y="2084832"/>
            <a:ext cx="566928" cy="56692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781544" y="14447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Text 16"/>
          <p:cNvSpPr/>
          <p:nvPr/>
        </p:nvSpPr>
        <p:spPr>
          <a:xfrm>
            <a:off x="7324344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</a:rPr>
              <a:t>Dashboard updated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7324344" y="3310128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Notification table refreshes so users can immediately see new alerts.</a:t>
            </a:r>
            <a:endParaRPr lang="en-US" sz="960" dirty="0"/>
          </a:p>
        </p:txBody>
      </p:sp>
      <p:sp>
        <p:nvSpPr>
          <p:cNvPr id="28" name="Shape 18"/>
          <p:cNvSpPr/>
          <p:nvPr/>
        </p:nvSpPr>
        <p:spPr>
          <a:xfrm>
            <a:off x="9381744" y="1828800"/>
            <a:ext cx="1591056" cy="2926080"/>
          </a:xfrm>
          <a:prstGeom prst="roundRect">
            <a:avLst>
              <a:gd name="adj" fmla="val 4598"/>
            </a:avLst>
          </a:prstGeom>
          <a:solidFill>
            <a:srgbClr val="FEF2F2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893808" y="2084832"/>
            <a:ext cx="566928" cy="56692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9948672" y="14447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05</a:t>
            </a:r>
            <a:endParaRPr lang="en-US" sz="1800" dirty="0"/>
          </a:p>
        </p:txBody>
      </p:sp>
      <p:sp>
        <p:nvSpPr>
          <p:cNvPr id="31" name="Text 20"/>
          <p:cNvSpPr/>
          <p:nvPr/>
        </p:nvSpPr>
        <p:spPr>
          <a:xfrm>
            <a:off x="9491472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F"/>
                </a:solidFill>
              </a:rPr>
              <a:t>Team acts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9491472" y="3310128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Team can replenish stock, reprioritize work, or clear notifications when handled.</a:t>
            </a:r>
            <a:endParaRPr lang="en-US" sz="960" dirty="0"/>
          </a:p>
        </p:txBody>
      </p:sp>
      <p:sp>
        <p:nvSpPr>
          <p:cNvPr id="33" name="Shape 22"/>
          <p:cNvSpPr/>
          <p:nvPr/>
        </p:nvSpPr>
        <p:spPr>
          <a:xfrm>
            <a:off x="822960" y="51663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4" name="Text 23"/>
          <p:cNvSpPr/>
          <p:nvPr/>
        </p:nvSpPr>
        <p:spPr>
          <a:xfrm>
            <a:off x="1005840" y="5340096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B6472"/>
                </a:solidFill>
              </a:rPr>
              <a:t>Trigger points currently covered: inventory create, inventory update, production-order completion, manual notification clearing, and immediate frontend refresh after change events.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managers will see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upgrade is intentionally simple: it adds a clear notification view without complicating the existing dashboard.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72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83080"/>
            <a:ext cx="6629400" cy="3749040"/>
          </a:xfrm>
          <a:prstGeom prst="roundRect">
            <a:avLst>
              <a:gd name="adj" fmla="val 1951"/>
            </a:avLst>
          </a:prstGeom>
          <a:solidFill>
            <a:srgbClr val="F8FAFC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9933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</a:rPr>
              <a:t>Low Inventory Notifications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23560" y="1901952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96712" y="196596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Clear Notifications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78992" y="2423160"/>
            <a:ext cx="6016752" cy="438912"/>
          </a:xfrm>
          <a:prstGeom prst="roundRect">
            <a:avLst>
              <a:gd name="adj" fmla="val 8333"/>
            </a:avLst>
          </a:prstGeom>
          <a:solidFill>
            <a:srgbClr val="EAF2FD"/>
          </a:solidFill>
          <a:ln w="12700">
            <a:solidFill>
              <a:srgbClr val="D6E4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57860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5B6472"/>
                </a:solidFill>
              </a:rPr>
              <a:t>Time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011680" y="257860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5B6472"/>
                </a:solidFill>
              </a:rPr>
              <a:t>Recipient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108960" y="257860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5B6472"/>
                </a:solidFill>
              </a:rPr>
              <a:t>Item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3858768" y="257860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5B6472"/>
                </a:solidFill>
              </a:rPr>
              <a:t>Qty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407408" y="257860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5B6472"/>
                </a:solidFill>
              </a:rPr>
              <a:t>Location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5394960" y="2578608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5B6472"/>
                </a:solidFill>
              </a:rPr>
              <a:t>Message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1078992" y="2962656"/>
            <a:ext cx="6016752" cy="530352"/>
          </a:xfrm>
          <a:prstGeom prst="roundRect">
            <a:avLst>
              <a:gd name="adj" fmla="val 6897"/>
            </a:avLst>
          </a:prstGeom>
          <a:solidFill>
            <a:srgbClr val="FEF2F2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311810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F"/>
                </a:solidFill>
              </a:rPr>
              <a:t>2026-04-02 20:46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993392" y="311810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F"/>
                </a:solidFill>
              </a:rPr>
              <a:t>Inventory Team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090672" y="311810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F"/>
                </a:solidFill>
              </a:rPr>
              <a:t>Glue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877056" y="311810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C2626"/>
                </a:solidFill>
              </a:rPr>
              <a:t>4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370832" y="311810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F"/>
                </a:solidFill>
              </a:rPr>
              <a:t>Line A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5358384" y="307238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Low inventory alert for Inventory Team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078992" y="3648456"/>
            <a:ext cx="6016752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3856" y="380390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F"/>
                </a:solidFill>
              </a:rPr>
              <a:t>2026-04-02 20:46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1993392" y="380390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F"/>
                </a:solidFill>
              </a:rPr>
              <a:t>Manager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3090672" y="380390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F"/>
                </a:solidFill>
              </a:rPr>
              <a:t>Glue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3877056" y="380390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C2626"/>
                </a:solidFill>
              </a:rPr>
              <a:t>4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370832" y="380390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F"/>
                </a:solidFill>
              </a:rPr>
              <a:t>Line A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358384" y="375818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Low inventory alert for Manager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1078992" y="4334256"/>
            <a:ext cx="6016752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33856" y="448970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F"/>
                </a:solidFill>
              </a:rPr>
              <a:t>2026-04-02 20:46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1993392" y="448970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F"/>
                </a:solidFill>
              </a:rPr>
              <a:t>Purchasing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3090672" y="448970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F"/>
                </a:solidFill>
              </a:rPr>
              <a:t>Glue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3877056" y="448970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C2626"/>
                </a:solidFill>
              </a:rPr>
              <a:t>4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370832" y="448970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F"/>
                </a:solidFill>
              </a:rPr>
              <a:t>Line A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5358384" y="444398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Low inventory alert for Purchasing Team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7909560" y="19019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</a:rPr>
              <a:t>Executive takeaway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955280" y="230428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226771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B6472"/>
                </a:solidFill>
              </a:rPr>
              <a:t>The dashboard makes low-stock situations visible immediately.</a:t>
            </a:r>
            <a:endParaRPr lang="en-US" sz="1140" dirty="0"/>
          </a:p>
        </p:txBody>
      </p:sp>
      <p:sp>
        <p:nvSpPr>
          <p:cNvPr id="40" name="Shape 38"/>
          <p:cNvSpPr/>
          <p:nvPr/>
        </p:nvSpPr>
        <p:spPr>
          <a:xfrm>
            <a:off x="7955280" y="3054096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30175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B6472"/>
                </a:solidFill>
              </a:rPr>
              <a:t>The same event can notify multiple roles without relying on manual communication.</a:t>
            </a:r>
            <a:endParaRPr lang="en-US" sz="1140" dirty="0"/>
          </a:p>
        </p:txBody>
      </p:sp>
      <p:sp>
        <p:nvSpPr>
          <p:cNvPr id="42" name="Shape 40"/>
          <p:cNvSpPr/>
          <p:nvPr/>
        </p:nvSpPr>
        <p:spPr>
          <a:xfrm>
            <a:off x="7955280" y="3803904"/>
            <a:ext cx="146304" cy="14630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376732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B6472"/>
                </a:solidFill>
              </a:rPr>
              <a:t>The feature is lightweight: it fits the current application and does not require a separate tool.</a:t>
            </a:r>
            <a:endParaRPr lang="en-US" sz="1140" dirty="0"/>
          </a:p>
        </p:txBody>
      </p:sp>
      <p:sp>
        <p:nvSpPr>
          <p:cNvPr id="44" name="Shape 42"/>
          <p:cNvSpPr/>
          <p:nvPr/>
        </p:nvSpPr>
        <p:spPr>
          <a:xfrm>
            <a:off x="7955280" y="4553712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0" y="451713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B6472"/>
                </a:solidFill>
              </a:rPr>
              <a:t>Notification records also create a simple audit trail of who needed to know and when.</a:t>
            </a:r>
            <a:endParaRPr lang="en-US" sz="1140" dirty="0"/>
          </a:p>
        </p:txBody>
      </p:sp>
      <p:sp>
        <p:nvSpPr>
          <p:cNvPr id="46" name="Shape 44"/>
          <p:cNvSpPr/>
          <p:nvPr/>
        </p:nvSpPr>
        <p:spPr>
          <a:xfrm>
            <a:off x="8028432" y="5175504"/>
            <a:ext cx="2697480" cy="310896"/>
          </a:xfrm>
          <a:prstGeom prst="roundRect">
            <a:avLst>
              <a:gd name="adj" fmla="val 50000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28432" y="5230368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Simple for users. Useful for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value and next steps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practical feature that can be extended into a stronger operational control system over time.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2120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89320" y="1417320"/>
            <a:ext cx="565099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719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12F"/>
                </a:solidFill>
              </a:rPr>
              <a:t>Immediate value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12140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8212F"/>
                </a:solidFill>
              </a:rPr>
              <a:t>Fewer surprises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2139696" y="212140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5B6472"/>
                </a:solidFill>
              </a:rPr>
              <a:t>Teams get earlier warning before shortages disrupt work.</a:t>
            </a:r>
            <a:endParaRPr lang="en-US" sz="1110" dirty="0"/>
          </a:p>
        </p:txBody>
      </p:sp>
      <p:sp>
        <p:nvSpPr>
          <p:cNvPr id="9" name="Shape 7"/>
          <p:cNvSpPr/>
          <p:nvPr/>
        </p:nvSpPr>
        <p:spPr>
          <a:xfrm>
            <a:off x="877824" y="2432304"/>
            <a:ext cx="4297680" cy="0"/>
          </a:xfrm>
          <a:prstGeom prst="line">
            <a:avLst/>
          </a:prstGeom>
          <a:noFill/>
          <a:ln w="12700">
            <a:solidFill>
              <a:srgbClr val="E5E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0779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8212F"/>
                </a:solidFill>
              </a:rPr>
              <a:t>Clear accountability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2139696" y="290779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5B6472"/>
                </a:solidFill>
              </a:rPr>
              <a:t>Inventory, management, and purchasing all see the same signal.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877824" y="3218688"/>
            <a:ext cx="4297680" cy="0"/>
          </a:xfrm>
          <a:prstGeom prst="line">
            <a:avLst/>
          </a:prstGeom>
          <a:noFill/>
          <a:ln w="12700">
            <a:solidFill>
              <a:srgbClr val="E5EA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9417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8212F"/>
                </a:solidFill>
              </a:rPr>
              <a:t>Faster decisions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2139696" y="369417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5B6472"/>
                </a:solidFill>
              </a:rPr>
              <a:t>Supervisors can reorder, reprioritize, or pause work sooner.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877824" y="4005072"/>
            <a:ext cx="4297680" cy="0"/>
          </a:xfrm>
          <a:prstGeom prst="line">
            <a:avLst/>
          </a:prstGeom>
          <a:noFill/>
          <a:ln w="12700">
            <a:solidFill>
              <a:srgbClr val="E5EA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48056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8212F"/>
                </a:solidFill>
              </a:rPr>
              <a:t>Low change burden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2139696" y="448056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5B6472"/>
                </a:solidFill>
              </a:rPr>
              <a:t>Built into the current tracker instead of introducing a new system.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877824" y="4791456"/>
            <a:ext cx="4297680" cy="0"/>
          </a:xfrm>
          <a:prstGeom prst="line">
            <a:avLst/>
          </a:prstGeom>
          <a:noFill/>
          <a:ln w="12700">
            <a:solidFill>
              <a:srgbClr val="E5EA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5248656"/>
            <a:ext cx="4206240" cy="310896"/>
          </a:xfrm>
          <a:prstGeom prst="roundRect">
            <a:avLst>
              <a:gd name="adj" fmla="val 50000"/>
            </a:avLst>
          </a:prstGeom>
          <a:solidFill>
            <a:srgbClr val="E7F7F3"/>
          </a:solidFill>
          <a:ln w="12700">
            <a:solidFill>
              <a:srgbClr val="E7F7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303520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Recommended message to leadership: approve pilot usage and extend routing options.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27648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12F"/>
                </a:solidFill>
              </a:rPr>
              <a:t>Recommended next phase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345936" y="20939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2176272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20665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8212F"/>
                </a:solidFill>
              </a:rPr>
              <a:t>Email / SMS delivery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8641080" y="20665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5B6472"/>
                </a:solidFill>
              </a:rPr>
              <a:t>Move beyond in-app notifications for urgent items.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6345936" y="28986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2980944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2871216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8212F"/>
                </a:solidFill>
              </a:rPr>
              <a:t>Item-specific thresholds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8641080" y="28712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5B6472"/>
                </a:solidFill>
              </a:rPr>
              <a:t>Set different low-stock levels for different materials.</a:t>
            </a:r>
            <a:endParaRPr lang="en-US" sz="1090" dirty="0"/>
          </a:p>
        </p:txBody>
      </p:sp>
      <p:sp>
        <p:nvSpPr>
          <p:cNvPr id="30" name="Shape 28"/>
          <p:cNvSpPr/>
          <p:nvPr/>
        </p:nvSpPr>
        <p:spPr>
          <a:xfrm>
            <a:off x="6345936" y="3703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378561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3675888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8212F"/>
                </a:solidFill>
              </a:rPr>
              <a:t>Role-based assignment</a:t>
            </a:r>
            <a:endParaRPr lang="en-US" sz="1240" dirty="0"/>
          </a:p>
        </p:txBody>
      </p:sp>
      <p:sp>
        <p:nvSpPr>
          <p:cNvPr id="33" name="Text 31"/>
          <p:cNvSpPr/>
          <p:nvPr/>
        </p:nvSpPr>
        <p:spPr>
          <a:xfrm>
            <a:off x="8641080" y="36758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5B6472"/>
                </a:solidFill>
              </a:rPr>
              <a:t>Map real users or departments instead of generic recipients.</a:t>
            </a:r>
            <a:endParaRPr lang="en-US" sz="1090" dirty="0"/>
          </a:p>
        </p:txBody>
      </p:sp>
      <p:sp>
        <p:nvSpPr>
          <p:cNvPr id="34" name="Shape 32"/>
          <p:cNvSpPr/>
          <p:nvPr/>
        </p:nvSpPr>
        <p:spPr>
          <a:xfrm>
            <a:off x="6345936" y="450799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45936" y="4590288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0" y="448056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8212F"/>
                </a:solidFill>
              </a:rPr>
              <a:t>Escalation and aging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8641080" y="44805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5B6472"/>
                </a:solidFill>
              </a:rPr>
              <a:t>Highlight alerts that stay unresolved too long.</a:t>
            </a:r>
            <a:endParaRPr lang="en-US" sz="1090" dirty="0"/>
          </a:p>
        </p:txBody>
      </p:sp>
      <p:sp>
        <p:nvSpPr>
          <p:cNvPr id="38" name="Shape 36"/>
          <p:cNvSpPr/>
          <p:nvPr/>
        </p:nvSpPr>
        <p:spPr>
          <a:xfrm>
            <a:off x="6364224" y="5248656"/>
            <a:ext cx="4572000" cy="310896"/>
          </a:xfrm>
          <a:prstGeom prst="roundRect">
            <a:avLst>
              <a:gd name="adj" fmla="val 50000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5303520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Decision ask: continue from prototype to production-ready operational rollout.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Production Tracker – Low Inventory Alerts</dc:title>
  <dc:subject>Inventory Production Tracker presentation</dc:subject>
  <dc:creator>OpenAI</dc:creator>
  <cp:lastModifiedBy>OpenAI</cp:lastModifiedBy>
  <cp:revision>1</cp:revision>
  <dcterms:created xsi:type="dcterms:W3CDTF">2026-04-03T01:57:18Z</dcterms:created>
  <dcterms:modified xsi:type="dcterms:W3CDTF">2026-04-03T01:57:18Z</dcterms:modified>
</cp:coreProperties>
</file>